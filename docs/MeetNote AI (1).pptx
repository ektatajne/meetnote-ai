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 Bold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2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2" y="-26704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578261"/>
            <a:ext cx="298847" cy="881380"/>
            <a:chOff x="0" y="0"/>
            <a:chExt cx="78709" cy="2321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709" cy="232133"/>
            </a:xfrm>
            <a:custGeom>
              <a:avLst/>
              <a:gdLst/>
              <a:ahLst/>
              <a:cxnLst/>
              <a:rect l="l" t="t" r="r" b="b"/>
              <a:pathLst>
                <a:path w="78709" h="232133">
                  <a:moveTo>
                    <a:pt x="0" y="0"/>
                  </a:moveTo>
                  <a:lnTo>
                    <a:pt x="78709" y="0"/>
                  </a:lnTo>
                  <a:lnTo>
                    <a:pt x="78709" y="232133"/>
                  </a:lnTo>
                  <a:lnTo>
                    <a:pt x="0" y="2321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8709" cy="270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6400" y="2775294"/>
            <a:ext cx="9955530" cy="160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19"/>
              </a:lnSpc>
            </a:pPr>
            <a:r>
              <a:rPr lang="en-US" sz="9299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MeetNote</a:t>
            </a:r>
            <a:r>
              <a:rPr lang="en-US" sz="92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5067300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7048"/>
            <a:ext cx="3429000" cy="1531825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853653"/>
              </p:ext>
            </p:extLst>
          </p:nvPr>
        </p:nvGraphicFramePr>
        <p:xfrm>
          <a:off x="1970314" y="5436632"/>
          <a:ext cx="6716486" cy="2505018"/>
        </p:xfrm>
        <a:graphic>
          <a:graphicData uri="http://schemas.openxmlformats.org/drawingml/2006/table">
            <a:tbl>
              <a:tblPr/>
              <a:tblGrid>
                <a:gridCol w="1084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0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Sr.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Emp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Ekta Tajne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3193218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Dhanashree Hiwase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3193205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Sharyu 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3202469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Yash Sathavane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3193223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0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bg1"/>
                          </a:solidFill>
                        </a:rPr>
                        <a:t>Anjali Kumari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3193228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2359"/>
            <a:ext cx="8446669" cy="1875190"/>
            <a:chOff x="0" y="0"/>
            <a:chExt cx="2224637" cy="493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4637" cy="493877"/>
            </a:xfrm>
            <a:custGeom>
              <a:avLst/>
              <a:gdLst/>
              <a:ahLst/>
              <a:cxnLst/>
              <a:rect l="l" t="t" r="r" b="b"/>
              <a:pathLst>
                <a:path w="2224637" h="493877">
                  <a:moveTo>
                    <a:pt x="0" y="0"/>
                  </a:moveTo>
                  <a:lnTo>
                    <a:pt x="2224637" y="0"/>
                  </a:lnTo>
                  <a:lnTo>
                    <a:pt x="2224637" y="493877"/>
                  </a:lnTo>
                  <a:lnTo>
                    <a:pt x="0" y="493877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24637" cy="531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46669" y="1028700"/>
            <a:ext cx="3900620" cy="4920937"/>
            <a:chOff x="0" y="0"/>
            <a:chExt cx="604308" cy="7623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4308" cy="762382"/>
            </a:xfrm>
            <a:custGeom>
              <a:avLst/>
              <a:gdLst/>
              <a:ahLst/>
              <a:cxnLst/>
              <a:rect l="l" t="t" r="r" b="b"/>
              <a:pathLst>
                <a:path w="604308" h="762382">
                  <a:moveTo>
                    <a:pt x="45650" y="0"/>
                  </a:moveTo>
                  <a:lnTo>
                    <a:pt x="558658" y="0"/>
                  </a:lnTo>
                  <a:cubicBezTo>
                    <a:pt x="583870" y="0"/>
                    <a:pt x="604308" y="20438"/>
                    <a:pt x="604308" y="45650"/>
                  </a:cubicBezTo>
                  <a:lnTo>
                    <a:pt x="604308" y="716732"/>
                  </a:lnTo>
                  <a:cubicBezTo>
                    <a:pt x="604308" y="741944"/>
                    <a:pt x="583870" y="762382"/>
                    <a:pt x="558658" y="762382"/>
                  </a:cubicBezTo>
                  <a:lnTo>
                    <a:pt x="45650" y="762382"/>
                  </a:lnTo>
                  <a:cubicBezTo>
                    <a:pt x="20438" y="762382"/>
                    <a:pt x="0" y="741944"/>
                    <a:pt x="0" y="716732"/>
                  </a:cubicBezTo>
                  <a:lnTo>
                    <a:pt x="0" y="45650"/>
                  </a:lnTo>
                  <a:cubicBezTo>
                    <a:pt x="0" y="20438"/>
                    <a:pt x="20438" y="0"/>
                    <a:pt x="45650" y="0"/>
                  </a:cubicBezTo>
                  <a:close/>
                </a:path>
              </a:pathLst>
            </a:custGeom>
            <a:blipFill>
              <a:blip r:embed="rId2"/>
              <a:stretch>
                <a:fillRect t="-9430" b="-94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358680" y="1028700"/>
            <a:ext cx="3900620" cy="8229600"/>
            <a:chOff x="0" y="0"/>
            <a:chExt cx="604308" cy="12749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4308" cy="1274980"/>
            </a:xfrm>
            <a:custGeom>
              <a:avLst/>
              <a:gdLst/>
              <a:ahLst/>
              <a:cxnLst/>
              <a:rect l="l" t="t" r="r" b="b"/>
              <a:pathLst>
                <a:path w="604308" h="1274980">
                  <a:moveTo>
                    <a:pt x="45650" y="0"/>
                  </a:moveTo>
                  <a:lnTo>
                    <a:pt x="558658" y="0"/>
                  </a:lnTo>
                  <a:cubicBezTo>
                    <a:pt x="583870" y="0"/>
                    <a:pt x="604308" y="20438"/>
                    <a:pt x="604308" y="45650"/>
                  </a:cubicBezTo>
                  <a:lnTo>
                    <a:pt x="604308" y="1229330"/>
                  </a:lnTo>
                  <a:cubicBezTo>
                    <a:pt x="604308" y="1254542"/>
                    <a:pt x="583870" y="1274980"/>
                    <a:pt x="558658" y="1274980"/>
                  </a:cubicBezTo>
                  <a:lnTo>
                    <a:pt x="45650" y="1274980"/>
                  </a:lnTo>
                  <a:cubicBezTo>
                    <a:pt x="20438" y="1274980"/>
                    <a:pt x="0" y="1254542"/>
                    <a:pt x="0" y="1229330"/>
                  </a:cubicBezTo>
                  <a:lnTo>
                    <a:pt x="0" y="45650"/>
                  </a:lnTo>
                  <a:cubicBezTo>
                    <a:pt x="0" y="20438"/>
                    <a:pt x="20438" y="0"/>
                    <a:pt x="45650" y="0"/>
                  </a:cubicBezTo>
                  <a:close/>
                </a:path>
              </a:pathLst>
            </a:custGeom>
            <a:blipFill>
              <a:blip r:embed="rId3"/>
              <a:stretch>
                <a:fillRect l="-20327" r="-20327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956092" y="9697268"/>
            <a:ext cx="606417" cy="286670"/>
          </a:xfrm>
          <a:custGeom>
            <a:avLst/>
            <a:gdLst/>
            <a:ahLst/>
            <a:cxnLst/>
            <a:rect l="l" t="t" r="r" b="b"/>
            <a:pathLst>
              <a:path w="606417" h="286670">
                <a:moveTo>
                  <a:pt x="0" y="0"/>
                </a:moveTo>
                <a:lnTo>
                  <a:pt x="606416" y="0"/>
                </a:lnTo>
                <a:lnTo>
                  <a:pt x="606416" y="286669"/>
                </a:lnTo>
                <a:lnTo>
                  <a:pt x="0" y="2866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967" y="350721"/>
            <a:ext cx="7370614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4069" y="2461103"/>
            <a:ext cx="6942950" cy="364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In modern corporate environments, meetings are often inefficient and not inclusive. Employees spend a significant amount of time taking notes instead of actively participating in discussions. As a result, important information can be missed.</a:t>
            </a:r>
          </a:p>
          <a:p>
            <a:pPr algn="just">
              <a:lnSpc>
                <a:spcPts val="3639"/>
              </a:lnSpc>
            </a:pPr>
            <a:endParaRPr lang="en-US" sz="2599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4069" y="6515283"/>
            <a:ext cx="12024323" cy="365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Additionally, fast-paced conversations create challenges for: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People with hearing impairments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Non-native speakers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Employees who struggle to keep up with real-time discussions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endParaRPr lang="en-US" sz="2600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40"/>
              </a:lnSpc>
            </a:pPr>
            <a:r>
              <a:rPr lang="en-US" sz="2600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There is currently no easy way to make meetings searchable, track key decisions, or extract important action items automatically.</a:t>
            </a:r>
          </a:p>
          <a:p>
            <a:pPr algn="just">
              <a:lnSpc>
                <a:spcPts val="3640"/>
              </a:lnSpc>
            </a:pPr>
            <a:endParaRPr lang="en-US" sz="2600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19964" y="-114809"/>
            <a:ext cx="13068036" cy="1789818"/>
            <a:chOff x="0" y="0"/>
            <a:chExt cx="3441787" cy="471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1787" cy="471392"/>
            </a:xfrm>
            <a:custGeom>
              <a:avLst/>
              <a:gdLst/>
              <a:ahLst/>
              <a:cxnLst/>
              <a:rect l="l" t="t" r="r" b="b"/>
              <a:pathLst>
                <a:path w="3441787" h="471392">
                  <a:moveTo>
                    <a:pt x="0" y="0"/>
                  </a:moveTo>
                  <a:lnTo>
                    <a:pt x="3441787" y="0"/>
                  </a:lnTo>
                  <a:lnTo>
                    <a:pt x="3441787" y="471392"/>
                  </a:lnTo>
                  <a:lnTo>
                    <a:pt x="0" y="471392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41787" cy="509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941369" y="0"/>
            <a:ext cx="13716000" cy="10287000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2"/>
              <a:stretch>
                <a:fillRect l="-6250" r="-625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220759" y="269754"/>
            <a:ext cx="4297171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45620" y="2181027"/>
            <a:ext cx="9781697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convert speech into accurate text using AI (Whisper)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42311" y="3143687"/>
            <a:ext cx="10023342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To generate timestamped transcripts for easy navigation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39179" y="4910305"/>
            <a:ext cx="10020121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To identify speakers and extract key information (future work)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45967" y="7168365"/>
            <a:ext cx="9213333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To automatically extract action items and summaries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06616" y="3992047"/>
            <a:ext cx="9494731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make meetings searchable and well-documented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02732" y="6009430"/>
            <a:ext cx="10094167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improve accessibility for hearing-impaired and non-native speakers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369345" y="8083400"/>
            <a:ext cx="10094167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To enhance overall productivity and participation in meetings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E354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7900504" cy="806821"/>
            <a:chOff x="0" y="0"/>
            <a:chExt cx="2080791" cy="2124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0791" cy="212496"/>
            </a:xfrm>
            <a:custGeom>
              <a:avLst/>
              <a:gdLst/>
              <a:ahLst/>
              <a:cxnLst/>
              <a:rect l="l" t="t" r="r" b="b"/>
              <a:pathLst>
                <a:path w="2080791" h="212496">
                  <a:moveTo>
                    <a:pt x="0" y="0"/>
                  </a:moveTo>
                  <a:lnTo>
                    <a:pt x="2080791" y="0"/>
                  </a:lnTo>
                  <a:lnTo>
                    <a:pt x="2080791" y="212496"/>
                  </a:lnTo>
                  <a:lnTo>
                    <a:pt x="0" y="212496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80791" cy="250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00504" y="9258300"/>
            <a:ext cx="7900504" cy="806821"/>
            <a:chOff x="0" y="0"/>
            <a:chExt cx="2080791" cy="2124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80791" cy="212496"/>
            </a:xfrm>
            <a:custGeom>
              <a:avLst/>
              <a:gdLst/>
              <a:ahLst/>
              <a:cxnLst/>
              <a:rect l="l" t="t" r="r" b="b"/>
              <a:pathLst>
                <a:path w="2080791" h="212496">
                  <a:moveTo>
                    <a:pt x="0" y="0"/>
                  </a:moveTo>
                  <a:lnTo>
                    <a:pt x="2080791" y="0"/>
                  </a:lnTo>
                  <a:lnTo>
                    <a:pt x="2080791" y="212496"/>
                  </a:lnTo>
                  <a:lnTo>
                    <a:pt x="0" y="212496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80791" cy="250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506134" y="2379354"/>
            <a:ext cx="1388211" cy="0"/>
          </a:xfrm>
          <a:prstGeom prst="line">
            <a:avLst/>
          </a:prstGeom>
          <a:ln w="38100" cap="flat">
            <a:solidFill>
              <a:srgbClr val="2E354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676015" y="1273654"/>
            <a:ext cx="9118658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Dataset 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6134" y="3605545"/>
            <a:ext cx="9795623" cy="4014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6401" lvl="1" indent="-403201" algn="just">
              <a:lnSpc>
                <a:spcPts val="5229"/>
              </a:lnSpc>
              <a:buFont typeface="Arial"/>
              <a:buChar char="•"/>
            </a:pPr>
            <a:r>
              <a:rPr lang="en-US" sz="3735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File Type: WAV (uncompressed audio) </a:t>
            </a:r>
          </a:p>
          <a:p>
            <a:pPr marL="806401" lvl="1" indent="-403201" algn="just">
              <a:lnSpc>
                <a:spcPts val="5229"/>
              </a:lnSpc>
              <a:buFont typeface="Arial"/>
              <a:buChar char="•"/>
            </a:pPr>
            <a:r>
              <a:rPr lang="en-US" sz="3735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Duration: ~32 seconds </a:t>
            </a:r>
          </a:p>
          <a:p>
            <a:pPr marL="806401" lvl="1" indent="-403201" algn="just">
              <a:lnSpc>
                <a:spcPts val="5229"/>
              </a:lnSpc>
              <a:buFont typeface="Arial"/>
              <a:buChar char="•"/>
            </a:pPr>
            <a:r>
              <a:rPr lang="en-US" sz="3735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Channels: Stereo (2 channels) </a:t>
            </a:r>
          </a:p>
          <a:p>
            <a:pPr marL="806401" lvl="1" indent="-403201" algn="just">
              <a:lnSpc>
                <a:spcPts val="5229"/>
              </a:lnSpc>
              <a:buFont typeface="Arial"/>
              <a:buChar char="•"/>
            </a:pPr>
            <a:r>
              <a:rPr lang="en-US" sz="3735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Sampling Rate: 48,000 Hz </a:t>
            </a:r>
          </a:p>
          <a:p>
            <a:pPr marL="806401" lvl="1" indent="-403201" algn="just">
              <a:lnSpc>
                <a:spcPts val="5229"/>
              </a:lnSpc>
              <a:buFont typeface="Arial"/>
              <a:buChar char="•"/>
            </a:pPr>
            <a:r>
              <a:rPr lang="en-US" sz="3735" b="1" dirty="0">
                <a:solidFill>
                  <a:srgbClr val="4C515B"/>
                </a:solidFill>
                <a:latin typeface="Inter Bold"/>
                <a:ea typeface="Inter Bold"/>
                <a:cs typeface="Inter Bold"/>
                <a:sym typeface="Inter Bold"/>
              </a:rPr>
              <a:t>Format: PCM (high-quality audio)</a:t>
            </a:r>
          </a:p>
          <a:p>
            <a:pPr algn="just">
              <a:lnSpc>
                <a:spcPts val="5672"/>
              </a:lnSpc>
            </a:pPr>
            <a:endParaRPr lang="en-US" sz="3735" b="1" dirty="0">
              <a:solidFill>
                <a:srgbClr val="4C515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-2688905" y="-2360304"/>
            <a:ext cx="4720608" cy="472060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19150" cap="sq">
              <a:solidFill>
                <a:srgbClr val="2E354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50755" y="0"/>
            <a:ext cx="6437245" cy="9661711"/>
            <a:chOff x="0" y="0"/>
            <a:chExt cx="997298" cy="14968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7298" cy="1496852"/>
            </a:xfrm>
            <a:custGeom>
              <a:avLst/>
              <a:gdLst/>
              <a:ahLst/>
              <a:cxnLst/>
              <a:rect l="l" t="t" r="r" b="b"/>
              <a:pathLst>
                <a:path w="997298" h="1496852">
                  <a:moveTo>
                    <a:pt x="0" y="0"/>
                  </a:moveTo>
                  <a:lnTo>
                    <a:pt x="997298" y="0"/>
                  </a:lnTo>
                  <a:lnTo>
                    <a:pt x="997298" y="1496852"/>
                  </a:lnTo>
                  <a:lnTo>
                    <a:pt x="0" y="1496852"/>
                  </a:lnTo>
                  <a:close/>
                </a:path>
              </a:pathLst>
            </a:custGeom>
            <a:blipFill>
              <a:blip r:embed="rId2"/>
              <a:stretch>
                <a:fillRect l="-30" r="-3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6015" y="2956837"/>
            <a:ext cx="9646973" cy="5398021"/>
            <a:chOff x="0" y="0"/>
            <a:chExt cx="2540767" cy="14217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40767" cy="1421701"/>
            </a:xfrm>
            <a:custGeom>
              <a:avLst/>
              <a:gdLst/>
              <a:ahLst/>
              <a:cxnLst/>
              <a:rect l="l" t="t" r="r" b="b"/>
              <a:pathLst>
                <a:path w="2540767" h="1421701">
                  <a:moveTo>
                    <a:pt x="23273" y="0"/>
                  </a:moveTo>
                  <a:lnTo>
                    <a:pt x="2517493" y="0"/>
                  </a:lnTo>
                  <a:cubicBezTo>
                    <a:pt x="2530347" y="0"/>
                    <a:pt x="2540767" y="10420"/>
                    <a:pt x="2540767" y="23273"/>
                  </a:cubicBezTo>
                  <a:lnTo>
                    <a:pt x="2540767" y="1398428"/>
                  </a:lnTo>
                  <a:cubicBezTo>
                    <a:pt x="2540767" y="1411281"/>
                    <a:pt x="2530347" y="1421701"/>
                    <a:pt x="2517493" y="1421701"/>
                  </a:cubicBezTo>
                  <a:lnTo>
                    <a:pt x="23273" y="1421701"/>
                  </a:lnTo>
                  <a:cubicBezTo>
                    <a:pt x="10420" y="1421701"/>
                    <a:pt x="0" y="1411281"/>
                    <a:pt x="0" y="1398428"/>
                  </a:cubicBezTo>
                  <a:lnTo>
                    <a:pt x="0" y="23273"/>
                  </a:lnTo>
                  <a:cubicBezTo>
                    <a:pt x="0" y="10420"/>
                    <a:pt x="10420" y="0"/>
                    <a:pt x="23273" y="0"/>
                  </a:cubicBezTo>
                  <a:close/>
                </a:path>
              </a:pathLst>
            </a:custGeom>
            <a:ln w="38100" cap="rnd">
              <a:solidFill>
                <a:srgbClr val="2E3542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540767" cy="1459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83368"/>
            <a:ext cx="13186926" cy="8074932"/>
            <a:chOff x="0" y="0"/>
            <a:chExt cx="3473100" cy="2126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73100" cy="2126731"/>
            </a:xfrm>
            <a:custGeom>
              <a:avLst/>
              <a:gdLst/>
              <a:ahLst/>
              <a:cxnLst/>
              <a:rect l="l" t="t" r="r" b="b"/>
              <a:pathLst>
                <a:path w="3473100" h="2126731">
                  <a:moveTo>
                    <a:pt x="29942" y="0"/>
                  </a:moveTo>
                  <a:lnTo>
                    <a:pt x="3443158" y="0"/>
                  </a:lnTo>
                  <a:cubicBezTo>
                    <a:pt x="3451099" y="0"/>
                    <a:pt x="3458715" y="3155"/>
                    <a:pt x="3464330" y="8770"/>
                  </a:cubicBezTo>
                  <a:cubicBezTo>
                    <a:pt x="3469946" y="14385"/>
                    <a:pt x="3473100" y="22001"/>
                    <a:pt x="3473100" y="29942"/>
                  </a:cubicBezTo>
                  <a:lnTo>
                    <a:pt x="3473100" y="2096789"/>
                  </a:lnTo>
                  <a:cubicBezTo>
                    <a:pt x="3473100" y="2113325"/>
                    <a:pt x="3459695" y="2126731"/>
                    <a:pt x="3443158" y="2126731"/>
                  </a:cubicBezTo>
                  <a:lnTo>
                    <a:pt x="29942" y="2126731"/>
                  </a:lnTo>
                  <a:cubicBezTo>
                    <a:pt x="13405" y="2126731"/>
                    <a:pt x="0" y="2113325"/>
                    <a:pt x="0" y="2096789"/>
                  </a:cubicBezTo>
                  <a:lnTo>
                    <a:pt x="0" y="29942"/>
                  </a:lnTo>
                  <a:cubicBezTo>
                    <a:pt x="0" y="13405"/>
                    <a:pt x="13405" y="0"/>
                    <a:pt x="29942" y="0"/>
                  </a:cubicBezTo>
                  <a:close/>
                </a:path>
              </a:pathLst>
            </a:custGeom>
            <a:ln w="38100" cap="rnd">
              <a:solidFill>
                <a:srgbClr val="2E35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73100" cy="2164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71953" y="0"/>
            <a:ext cx="6087347" cy="8178878"/>
            <a:chOff x="0" y="0"/>
            <a:chExt cx="943089" cy="12671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3089" cy="1267122"/>
            </a:xfrm>
            <a:custGeom>
              <a:avLst/>
              <a:gdLst/>
              <a:ahLst/>
              <a:cxnLst/>
              <a:rect l="l" t="t" r="r" b="b"/>
              <a:pathLst>
                <a:path w="943089" h="1267122">
                  <a:moveTo>
                    <a:pt x="0" y="0"/>
                  </a:moveTo>
                  <a:lnTo>
                    <a:pt x="943089" y="0"/>
                  </a:lnTo>
                  <a:lnTo>
                    <a:pt x="943089" y="1267122"/>
                  </a:lnTo>
                  <a:lnTo>
                    <a:pt x="0" y="1267122"/>
                  </a:lnTo>
                  <a:close/>
                </a:path>
              </a:pathLst>
            </a:custGeom>
            <a:blipFill>
              <a:blip r:embed="rId2"/>
              <a:stretch>
                <a:fillRect t="-5820" b="-582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31844" y="3722139"/>
            <a:ext cx="734599" cy="73459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31844" y="5455198"/>
            <a:ext cx="734599" cy="73459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31844" y="7050157"/>
            <a:ext cx="734599" cy="73459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87564" y="3607227"/>
            <a:ext cx="734599" cy="73459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31844" y="1982362"/>
            <a:ext cx="6692575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74866" y="3655464"/>
            <a:ext cx="2765306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Frontend: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74866" y="7061333"/>
            <a:ext cx="2073979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AI Model: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74866" y="4098646"/>
            <a:ext cx="2765306" cy="43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React.js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75430" y="5774872"/>
            <a:ext cx="3679706" cy="43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Python(Flask/FastAPI)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74866" y="7541576"/>
            <a:ext cx="2596319" cy="43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OpenAI Whisper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74866" y="5387293"/>
            <a:ext cx="2765306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Backend: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31713" y="3598633"/>
            <a:ext cx="2073979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Libraries: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45841" y="4098646"/>
            <a:ext cx="2883066" cy="43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NumPy, PyTorch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872543" y="5453968"/>
            <a:ext cx="734599" cy="734599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845841" y="5330462"/>
            <a:ext cx="2883066" cy="49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801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Communication: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26243" y="5774872"/>
            <a:ext cx="2883066" cy="43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4C515B"/>
                </a:solidFill>
                <a:latin typeface="Inter"/>
                <a:ea typeface="Inter"/>
                <a:cs typeface="Inter"/>
                <a:sym typeface="Inter"/>
              </a:rPr>
              <a:t>REST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486157"/>
            <a:ext cx="16230600" cy="8557100"/>
          </a:xfrm>
          <a:custGeom>
            <a:avLst/>
            <a:gdLst/>
            <a:ahLst/>
            <a:cxnLst/>
            <a:rect l="l" t="t" r="r" b="b"/>
            <a:pathLst>
              <a:path w="16230600" h="8557100">
                <a:moveTo>
                  <a:pt x="0" y="0"/>
                </a:moveTo>
                <a:lnTo>
                  <a:pt x="16230600" y="0"/>
                </a:lnTo>
                <a:lnTo>
                  <a:pt x="16230600" y="8557100"/>
                </a:lnTo>
                <a:lnTo>
                  <a:pt x="0" y="855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60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47538" y="237208"/>
            <a:ext cx="961453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EFEFE"/>
                </a:solidFill>
                <a:latin typeface="Inter Bold"/>
                <a:ea typeface="Inter Bold"/>
                <a:cs typeface="Inter Bold"/>
                <a:sym typeface="Inter Bold"/>
              </a:rPr>
              <a:t>Use case: MeetNote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16167" y="1242413"/>
            <a:ext cx="14291214" cy="8473086"/>
          </a:xfrm>
          <a:custGeom>
            <a:avLst/>
            <a:gdLst/>
            <a:ahLst/>
            <a:cxnLst/>
            <a:rect l="l" t="t" r="r" b="b"/>
            <a:pathLst>
              <a:path w="14291214" h="8473086">
                <a:moveTo>
                  <a:pt x="0" y="0"/>
                </a:moveTo>
                <a:lnTo>
                  <a:pt x="14291214" y="0"/>
                </a:lnTo>
                <a:lnTo>
                  <a:pt x="14291214" y="8473086"/>
                </a:lnTo>
                <a:lnTo>
                  <a:pt x="0" y="847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33" r="-1440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11694" y="23495"/>
            <a:ext cx="961453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FEFEFE"/>
                </a:solidFill>
                <a:latin typeface="Inter Bold"/>
                <a:ea typeface="Inter Bold"/>
                <a:cs typeface="Inter Bold"/>
                <a:sym typeface="Inter Bold"/>
              </a:rPr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3477" y="1451696"/>
            <a:ext cx="16713954" cy="7706363"/>
          </a:xfrm>
          <a:custGeom>
            <a:avLst/>
            <a:gdLst/>
            <a:ahLst/>
            <a:cxnLst/>
            <a:rect l="l" t="t" r="r" b="b"/>
            <a:pathLst>
              <a:path w="16713954" h="7706363">
                <a:moveTo>
                  <a:pt x="0" y="0"/>
                </a:moveTo>
                <a:lnTo>
                  <a:pt x="16713953" y="0"/>
                </a:lnTo>
                <a:lnTo>
                  <a:pt x="16713953" y="7706363"/>
                </a:lnTo>
                <a:lnTo>
                  <a:pt x="0" y="770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810" r="-258" b="-850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33891" y="23495"/>
            <a:ext cx="8371617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2E3542"/>
                </a:solidFill>
                <a:latin typeface="Inter Bold"/>
                <a:ea typeface="Inter Bold"/>
                <a:cs typeface="Inter Bold"/>
                <a:sym typeface="Inter Bold"/>
              </a:rPr>
              <a:t>OUTPUTS: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9905" y="1416718"/>
            <a:ext cx="16225437" cy="7539186"/>
            <a:chOff x="0" y="0"/>
            <a:chExt cx="2743945" cy="1274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3945" cy="1274980"/>
            </a:xfrm>
            <a:custGeom>
              <a:avLst/>
              <a:gdLst/>
              <a:ahLst/>
              <a:cxnLst/>
              <a:rect l="l" t="t" r="r" b="b"/>
              <a:pathLst>
                <a:path w="2743945" h="1274980">
                  <a:moveTo>
                    <a:pt x="0" y="0"/>
                  </a:moveTo>
                  <a:lnTo>
                    <a:pt x="2743945" y="0"/>
                  </a:lnTo>
                  <a:lnTo>
                    <a:pt x="274394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t="-10200" b="-1071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246370"/>
            <a:chOff x="0" y="0"/>
            <a:chExt cx="283329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812800"/>
            </a:xfrm>
            <a:custGeom>
              <a:avLst/>
              <a:gdLst/>
              <a:ahLst/>
              <a:cxnLst/>
              <a:rect l="l" t="t" r="r" b="b"/>
              <a:pathLst>
                <a:path w="2833290" h="812800">
                  <a:moveTo>
                    <a:pt x="0" y="0"/>
                  </a:moveTo>
                  <a:lnTo>
                    <a:pt x="2833290" y="0"/>
                  </a:lnTo>
                  <a:lnTo>
                    <a:pt x="283329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66339" b="-6633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927696" y="7926696"/>
            <a:ext cx="4720608" cy="472060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19150" cap="sq">
              <a:solidFill>
                <a:srgbClr val="2E354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7844189"/>
            <a:ext cx="8371617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2400" y="152400"/>
            <a:ext cx="18288000" cy="5246370"/>
            <a:chOff x="0" y="0"/>
            <a:chExt cx="283329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33290" cy="812800"/>
            </a:xfrm>
            <a:custGeom>
              <a:avLst/>
              <a:gdLst/>
              <a:ahLst/>
              <a:cxnLst/>
              <a:rect l="l" t="t" r="r" b="b"/>
              <a:pathLst>
                <a:path w="2833290" h="812800">
                  <a:moveTo>
                    <a:pt x="0" y="0"/>
                  </a:moveTo>
                  <a:lnTo>
                    <a:pt x="2833290" y="0"/>
                  </a:lnTo>
                  <a:lnTo>
                    <a:pt x="283329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66339" b="-663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5398770"/>
            <a:ext cx="18288000" cy="4888230"/>
            <a:chOff x="0" y="0"/>
            <a:chExt cx="4816593" cy="12874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1287435"/>
            </a:xfrm>
            <a:custGeom>
              <a:avLst/>
              <a:gdLst/>
              <a:ahLst/>
              <a:cxnLst/>
              <a:rect l="l" t="t" r="r" b="b"/>
              <a:pathLst>
                <a:path w="4816592" h="1287435">
                  <a:moveTo>
                    <a:pt x="0" y="0"/>
                  </a:moveTo>
                  <a:lnTo>
                    <a:pt x="4816592" y="0"/>
                  </a:lnTo>
                  <a:lnTo>
                    <a:pt x="4816592" y="1287435"/>
                  </a:lnTo>
                  <a:lnTo>
                    <a:pt x="0" y="1287435"/>
                  </a:lnTo>
                  <a:close/>
                </a:path>
              </a:pathLst>
            </a:custGeom>
            <a:solidFill>
              <a:srgbClr val="2E354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1325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6973888"/>
            <a:ext cx="688260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3213" y="8613684"/>
            <a:ext cx="3692930" cy="1649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249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Inter Bold</vt:lpstr>
      <vt:lpstr>Calibri</vt:lpstr>
      <vt:lpstr>Inter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MeetNote AI</dc:title>
  <dc:creator>Ekta</dc:creator>
  <cp:lastModifiedBy>Anjali Kumari</cp:lastModifiedBy>
  <cp:revision>6</cp:revision>
  <dcterms:created xsi:type="dcterms:W3CDTF">2006-08-16T00:00:00Z</dcterms:created>
  <dcterms:modified xsi:type="dcterms:W3CDTF">2026-03-29T11:32:39Z</dcterms:modified>
  <dc:identifier>DAHFUSTWoDM</dc:identifier>
</cp:coreProperties>
</file>